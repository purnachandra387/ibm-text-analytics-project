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35FCD-3563-4A23-86E1-CD0F3AC18DB2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CBA232F-5AC3-4835-9098-EE72D2C49C3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35FCD-3563-4A23-86E1-CD0F3AC18DB2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A232F-5AC3-4835-9098-EE72D2C49C37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688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35FCD-3563-4A23-86E1-CD0F3AC18DB2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A232F-5AC3-4835-9098-EE72D2C49C3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985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35FCD-3563-4A23-86E1-CD0F3AC18DB2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A232F-5AC3-4835-9098-EE72D2C49C37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929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35FCD-3563-4A23-86E1-CD0F3AC18DB2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A232F-5AC3-4835-9098-EE72D2C49C37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12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35FCD-3563-4A23-86E1-CD0F3AC18DB2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A232F-5AC3-4835-9098-EE72D2C49C37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2741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35FCD-3563-4A23-86E1-CD0F3AC18DB2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A232F-5AC3-4835-9098-EE72D2C49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448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35FCD-3563-4A23-86E1-CD0F3AC18DB2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A232F-5AC3-4835-9098-EE72D2C49C37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99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8835FCD-3563-4A23-86E1-CD0F3AC18DB2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A232F-5AC3-4835-9098-EE72D2C49C37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733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35FCD-3563-4A23-86E1-CD0F3AC18DB2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A232F-5AC3-4835-9098-EE72D2C49C37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095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35FCD-3563-4A23-86E1-CD0F3AC18DB2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A232F-5AC3-4835-9098-EE72D2C49C3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747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35FCD-3563-4A23-86E1-CD0F3AC18DB2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CBA232F-5AC3-4835-9098-EE72D2C49C37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4245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8147-3133-8E43-C284-9215A0C1A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813" y="311727"/>
            <a:ext cx="9144000" cy="2387600"/>
          </a:xfrm>
        </p:spPr>
        <p:txBody>
          <a:bodyPr>
            <a:normAutofit/>
          </a:bodyPr>
          <a:lstStyle/>
          <a:p>
            <a:br>
              <a:rPr lang="en-IN" b="1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DE033-C9B8-DB6C-D96D-B7E212D5474E}"/>
              </a:ext>
            </a:extLst>
          </p:cNvPr>
          <p:cNvSpPr txBox="1"/>
          <p:nvPr/>
        </p:nvSpPr>
        <p:spPr>
          <a:xfrm>
            <a:off x="3048000" y="360617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Granite Open-Source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Granite Open-Source Models represent a new wave in machine learning and AI, emphasizing collaboration, transparency, and community-driven enhancements while offering versatile solutions for various applications.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D261CA-834E-04D3-35C3-667BC5F7C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327" y="0"/>
            <a:ext cx="2445225" cy="61029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C83DF9-775F-2036-2E3B-DC7E6FF19FF2}"/>
              </a:ext>
            </a:extLst>
          </p:cNvPr>
          <p:cNvSpPr txBox="1"/>
          <p:nvPr/>
        </p:nvSpPr>
        <p:spPr>
          <a:xfrm>
            <a:off x="2760453" y="862642"/>
            <a:ext cx="56071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 Purna Chandra Reddy – 2300033083</a:t>
            </a:r>
            <a:br>
              <a:rPr lang="en-IN" dirty="0"/>
            </a:br>
            <a:br>
              <a:rPr lang="en-IN" dirty="0"/>
            </a:br>
            <a:r>
              <a:rPr lang="en-IN" dirty="0"/>
              <a:t>K </a:t>
            </a:r>
            <a:r>
              <a:rPr lang="en-IN" dirty="0" err="1"/>
              <a:t>Abhitej</a:t>
            </a:r>
            <a:r>
              <a:rPr lang="en-IN"/>
              <a:t> Reddy - 2300033191</a:t>
            </a:r>
          </a:p>
        </p:txBody>
      </p:sp>
    </p:spTree>
    <p:extLst>
      <p:ext uri="{BB962C8B-B14F-4D97-AF65-F5344CB8AC3E}">
        <p14:creationId xmlns:p14="http://schemas.microsoft.com/office/powerpoint/2010/main" val="2345682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6F03BA-5FBE-8A9C-D95F-32B0236A0695}"/>
              </a:ext>
            </a:extLst>
          </p:cNvPr>
          <p:cNvSpPr txBox="1"/>
          <p:nvPr/>
        </p:nvSpPr>
        <p:spPr>
          <a:xfrm>
            <a:off x="1897811" y="1583778"/>
            <a:ext cx="89542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Overview of Granite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 and Purpose</a:t>
            </a:r>
            <a:r>
              <a:rPr lang="en-US" dirty="0"/>
              <a:t>: Granite refers to a set of open-source models in AI that are designed to be flexible, accessible, and beneficial for developers and researchers alike.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Features</a:t>
            </a:r>
            <a:r>
              <a:rPr lang="en-US" dirty="0"/>
              <a:t>: The models are characterized by easy integration, well-documented code, and active community engagement that fosters knowledge sharing and improvement.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Cases</a:t>
            </a:r>
            <a:r>
              <a:rPr lang="en-US" dirty="0"/>
              <a:t>: Professionals can utilize Granite models for tasks such as natural language processing, computer vision, and predictive analytics, making them ideal for diverse industries.</a:t>
            </a:r>
          </a:p>
        </p:txBody>
      </p:sp>
    </p:spTree>
    <p:extLst>
      <p:ext uri="{BB962C8B-B14F-4D97-AF65-F5344CB8AC3E}">
        <p14:creationId xmlns:p14="http://schemas.microsoft.com/office/powerpoint/2010/main" val="301283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C4834-CBAE-D908-2027-0E4A227A1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Architecture and Flow Chart</a:t>
            </a:r>
          </a:p>
          <a:p>
            <a:r>
              <a:rPr lang="en-US" b="1" dirty="0"/>
              <a:t>Model Architecture</a:t>
            </a:r>
            <a:r>
              <a:rPr lang="en-US" dirty="0"/>
              <a:t>: The Granite models utilize neural networks and deep learning technologies, providing a robust framework for training and inference.</a:t>
            </a:r>
          </a:p>
          <a:p>
            <a:r>
              <a:rPr lang="en-US" b="1" dirty="0"/>
              <a:t>Flow Chart Explanation</a:t>
            </a:r>
            <a:r>
              <a:rPr lang="en-US" dirty="0"/>
              <a:t>: A flow chart illustrates the process from model training to deployment, including data preprocessing, model evaluation, and performance optimization.</a:t>
            </a:r>
          </a:p>
          <a:p>
            <a:r>
              <a:rPr lang="en-US" b="1" dirty="0"/>
              <a:t>Components</a:t>
            </a:r>
            <a:r>
              <a:rPr lang="en-US" dirty="0"/>
              <a:t>: Essential components include data inputs, neural network layers, activation functions, and output layers, all of which contribute to the model’s overall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9049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C5F0E1-F379-8911-0E6C-9610F580030A}"/>
              </a:ext>
            </a:extLst>
          </p:cNvPr>
          <p:cNvSpPr txBox="1"/>
          <p:nvPr/>
        </p:nvSpPr>
        <p:spPr>
          <a:xfrm>
            <a:off x="2610928" y="1211396"/>
            <a:ext cx="697014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Installation and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System Requirements</a:t>
            </a:r>
            <a:r>
              <a:rPr lang="en-US" dirty="0"/>
              <a:t>: Users need a compatible operating system, necessary libraries, and dependencies required for running Granite models efficiently.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Installation Steps</a:t>
            </a:r>
            <a:r>
              <a:rPr lang="en-US" dirty="0"/>
              <a:t>: A detailed guide outlines how to clone the repository, install required packages, and configure the environment for optimal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Testing the Installation</a:t>
            </a:r>
            <a:r>
              <a:rPr lang="en-US" dirty="0"/>
              <a:t>: After setup, users should run sample scripts to verify that everything is functioning correctly, ensuring a smooth start to using the models.</a:t>
            </a:r>
          </a:p>
        </p:txBody>
      </p:sp>
    </p:spTree>
    <p:extLst>
      <p:ext uri="{BB962C8B-B14F-4D97-AF65-F5344CB8AC3E}">
        <p14:creationId xmlns:p14="http://schemas.microsoft.com/office/powerpoint/2010/main" val="203575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7DD2A-DF8F-9572-4CE3-E441F248D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8906"/>
            <a:ext cx="10515600" cy="5228057"/>
          </a:xfrm>
        </p:spPr>
        <p:txBody>
          <a:bodyPr/>
          <a:lstStyle/>
          <a:p>
            <a:r>
              <a:rPr lang="en-US" b="1" dirty="0"/>
              <a:t>Training and Fine-tuning</a:t>
            </a:r>
          </a:p>
          <a:p>
            <a:r>
              <a:rPr lang="en-US" b="1" dirty="0"/>
              <a:t>Training Process</a:t>
            </a:r>
            <a:r>
              <a:rPr lang="en-US" dirty="0"/>
              <a:t>: The training involves feeding large datasets into the models and adjusting weights through backpropagation, allowing the model to learn patterns in data.</a:t>
            </a:r>
          </a:p>
          <a:p>
            <a:r>
              <a:rPr lang="en-US" b="1" dirty="0"/>
              <a:t>Hyperparameter Tuning</a:t>
            </a:r>
            <a:r>
              <a:rPr lang="en-US" dirty="0"/>
              <a:t>: Users can fine-tune hyperparameters like learning rate and batch size to enhance model accuracy and performance based on specific tasks.</a:t>
            </a:r>
          </a:p>
          <a:p>
            <a:r>
              <a:rPr lang="en-US" b="1" dirty="0"/>
              <a:t>Cross-Validation Techniques</a:t>
            </a:r>
            <a:r>
              <a:rPr lang="en-US" dirty="0"/>
              <a:t>: Implementing cross-validation helps in assessing the model's generalizability and reduces the risk of overfitting, leading to more reliable outcomes.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58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A8A2CD-FC50-5543-0941-977F970D156A}"/>
              </a:ext>
            </a:extLst>
          </p:cNvPr>
          <p:cNvSpPr txBox="1"/>
          <p:nvPr/>
        </p:nvSpPr>
        <p:spPr>
          <a:xfrm>
            <a:off x="1512498" y="966158"/>
            <a:ext cx="92015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Community and Contributions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Open-Source Community</a:t>
            </a:r>
            <a:r>
              <a:rPr lang="en-US" dirty="0"/>
              <a:t>: Granite thrives on community contributions, encouraging developers to submit improvements, bug fixes, and new model implementations via platforms like GitHub.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Documentation and Tutorials</a:t>
            </a:r>
            <a:r>
              <a:rPr lang="en-US" dirty="0"/>
              <a:t>: Comprehensive documentation and tutorials are provided to assist new users in understanding the models and making effective use of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Collaboration Opportunities</a:t>
            </a:r>
            <a:r>
              <a:rPr lang="en-US" dirty="0"/>
              <a:t>: Users are encouraged to collaborate with others in the community on projects, fostering innovation and the exchange of ideas.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690378-60D0-134F-2DC5-C0B81F493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74481"/>
            <a:ext cx="12192000" cy="291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10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18EF0-CC6E-F04F-3C95-FB9495AE8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Real-World Applications</a:t>
            </a:r>
          </a:p>
          <a:p>
            <a:r>
              <a:rPr lang="en-US" b="1" dirty="0"/>
              <a:t>Industry Implementations</a:t>
            </a:r>
            <a:r>
              <a:rPr lang="en-US" dirty="0"/>
              <a:t>: Various organizations have successfully adopted Granite models for real-world applications, including healthcare diagnostics, e-commerce recommendations, and automated content generation.</a:t>
            </a:r>
          </a:p>
          <a:p>
            <a:r>
              <a:rPr lang="en-US" b="1" dirty="0"/>
              <a:t>Case Studies</a:t>
            </a:r>
            <a:r>
              <a:rPr lang="en-US" dirty="0"/>
              <a:t>: Detailed case studies showcase how these models have improved efficiency, reduced costs, and enhanced decision-making processes across different sectors.</a:t>
            </a:r>
          </a:p>
          <a:p>
            <a:r>
              <a:rPr lang="en-US" b="1" dirty="0"/>
              <a:t>Future Outlook</a:t>
            </a:r>
            <a:r>
              <a:rPr lang="en-US" dirty="0"/>
              <a:t>: The growing interest in open-source solutions in AI signifies a promising future for Granite models, with potential expansions into various new fields.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3096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70E51-21C5-C0F0-DB8D-C6ABD4B16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8649"/>
            <a:ext cx="10515600" cy="5268314"/>
          </a:xfrm>
        </p:spPr>
        <p:txBody>
          <a:bodyPr>
            <a:normAutofit/>
          </a:bodyPr>
          <a:lstStyle/>
          <a:p>
            <a:r>
              <a:rPr lang="en-US" b="1" dirty="0"/>
              <a:t>Conclusion and Future Directions</a:t>
            </a:r>
          </a:p>
          <a:p>
            <a:r>
              <a:rPr lang="en-US" b="1" dirty="0"/>
              <a:t>Summarization</a:t>
            </a:r>
            <a:r>
              <a:rPr lang="en-US" dirty="0"/>
              <a:t>: Granite Open-Source Models represent a significant shift towards collaborative development in AI, with their flexibility catering to a range of applications and industries.</a:t>
            </a:r>
          </a:p>
          <a:p>
            <a:r>
              <a:rPr lang="en-US" b="1" dirty="0"/>
              <a:t>Future Development</a:t>
            </a:r>
            <a:r>
              <a:rPr lang="en-US" dirty="0"/>
              <a:t>: Ongoing enhancements and model updates are anticipated, driven by community feedback and technological advancements, ensuring Granite remains at the forefront of open-source AI.</a:t>
            </a:r>
          </a:p>
          <a:p>
            <a:r>
              <a:rPr lang="en-US" b="1" dirty="0"/>
              <a:t>Engagement Invitation</a:t>
            </a:r>
            <a:r>
              <a:rPr lang="en-US" dirty="0"/>
              <a:t>: The Granite community welcomes new users, contributors, and companies to explore, integrate, and build upon their models to drive innovation and research forward.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824716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</TotalTime>
  <Words>625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Purna Chandra Reddy</dc:creator>
  <cp:lastModifiedBy>Purna Chandra Reddy</cp:lastModifiedBy>
  <cp:revision>2</cp:revision>
  <dcterms:created xsi:type="dcterms:W3CDTF">2025-11-01T05:16:19Z</dcterms:created>
  <dcterms:modified xsi:type="dcterms:W3CDTF">2025-11-01T05:28:46Z</dcterms:modified>
</cp:coreProperties>
</file>